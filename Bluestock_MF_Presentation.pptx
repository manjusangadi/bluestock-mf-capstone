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0CDF4"/>
                </a:solidFill>
                <a:latin typeface="Calibri"/>
              </a:defRPr>
            </a:pPr>
            <a:r>
              <a:t>BLUESTOCK FINTECH  •  DATA ANALYST INTERNSHIP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Mutual Fund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Calibri"/>
              </a:defRPr>
            </a:pPr>
            <a:r>
              <a:t>End-to-End Data Engineering, Quantitative Risk Modeling, and Interactive BI Dashboard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754880"/>
            <a:ext cx="9966960" cy="1188720"/>
          </a:xfrm>
          <a:prstGeom prst="roundRect">
            <a:avLst/>
          </a:prstGeom>
          <a:solidFill>
            <a:srgbClr val="1E406E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846320"/>
            <a:ext cx="9601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Project Scope: 40 Real Schemes  |  10 Datasets (87K+ Rows)  |  SQLite Star Schema  |  Power BI / Python</a:t>
            </a:r>
          </a:p>
          <a:p>
            <a:pPr>
              <a:defRPr sz="1200">
                <a:solidFill>
                  <a:srgbClr val="BEE3F8"/>
                </a:solidFill>
              </a:defRPr>
            </a:pPr>
            <a:r>
              <a:t>Author: Manju Angadi  •  Date: June 2026  •  Capstone Submission (Final v1.0)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Problem Statement &amp; Strategic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The Retail Investment Dilemma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3182CE"/>
                </a:solidFill>
              </a:rPr>
              <a:t>• Data Fragmentation: </a:t>
            </a:r>
            <a:r>
              <a:rPr>
                <a:solidFill>
                  <a:srgbClr val="2D3748"/>
                </a:solidFill>
              </a:rPr>
              <a:t>NAV, AUM, folio counts, and transaction flows are scattered across AMFI, SEBI, and disparate exchange portals in TXT, HTML, and CSV formats.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3182CE"/>
                </a:solidFill>
              </a:rPr>
              <a:t>• Lack of Unified Analytics: </a:t>
            </a:r>
            <a:r>
              <a:rPr>
                <a:solidFill>
                  <a:srgbClr val="2D3748"/>
                </a:solidFill>
              </a:rPr>
              <a:t>Retail investors struggle to assess true risk-adjusted performance, often misjudging high trailing returns without evaluating downside volatility.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3182CE"/>
                </a:solidFill>
              </a:rPr>
              <a:t>• SIP Friction &amp; Drop-Offs: </a:t>
            </a:r>
            <a:r>
              <a:rPr>
                <a:solidFill>
                  <a:srgbClr val="2D3748"/>
                </a:solidFill>
              </a:rPr>
              <a:t>High initial investor excitement is plagued by mandate skips, bank balance defaults, and lack of automated cadenced retention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Capstone Solution Pillars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38A169"/>
                </a:solidFill>
              </a:rPr>
              <a:t>✔ Automated ETL Pipeline: </a:t>
            </a:r>
            <a:r>
              <a:rPr>
                <a:solidFill>
                  <a:srgbClr val="2D3748"/>
                </a:solidFill>
              </a:rPr>
              <a:t>Ingest, clean, and validate 10 relational datasets with automated live NAV integration via mfapi.in.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38A169"/>
                </a:solidFill>
              </a:rPr>
              <a:t>✔ Relational Star Schema: </a:t>
            </a:r>
            <a:r>
              <a:rPr>
                <a:solidFill>
                  <a:srgbClr val="2D3748"/>
                </a:solidFill>
              </a:rPr>
              <a:t>Architect a high-performance SQLite data warehouse linking dimension and fact tables for fast BI querying.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38A169"/>
                </a:solidFill>
              </a:rPr>
              <a:t>✔ Quantitative Risk Modeling: </a:t>
            </a:r>
            <a:r>
              <a:rPr>
                <a:solidFill>
                  <a:srgbClr val="2D3748"/>
                </a:solidFill>
              </a:rPr>
              <a:t>Compute CAGR, Sharpe, Sortino, Alpha, Beta, Max Drawdown, 95% Historical VaR/CVaR, and Sector HHI.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38A169"/>
                </a:solidFill>
              </a:rPr>
              <a:t>✔ Interactive BI Dashboard: </a:t>
            </a:r>
            <a:r>
              <a:rPr>
                <a:solidFill>
                  <a:srgbClr val="2D3748"/>
                </a:solidFill>
              </a:rPr>
              <a:t>Design 4 visual pages in Power BI with drill-through navigation, category slicers, and executive KPI cards.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Data Sources &amp; Ingestion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A365D"/>
                </a:solidFill>
              </a:defRPr>
            </a:pPr>
            <a:r>
              <a:t>Public Data Sources</a:t>
            </a:r>
          </a:p>
          <a:p>
            <a:pPr>
              <a:spcBef>
                <a:spcPts val="400"/>
              </a:spcBef>
              <a:defRPr b="1" sz="1100">
                <a:solidFill>
                  <a:srgbClr val="3182CE"/>
                </a:solidFill>
              </a:defRPr>
            </a:pPr>
            <a:r>
              <a:t>AMFI India, mfapi.in, NSE/BSE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</a:defRPr>
            </a:pPr>
            <a:r>
              <a:t>Aggregates real scheme NAVs, benchmark indices (Nifty 50, Nifty 100), and monthly industry flows without private credentials.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6304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A365D"/>
                </a:solidFill>
              </a:defRPr>
            </a:pPr>
            <a:r>
              <a:t>Dataset Scale</a:t>
            </a:r>
          </a:p>
          <a:p>
            <a:pPr>
              <a:spcBef>
                <a:spcPts val="400"/>
              </a:spcBef>
              <a:defRPr b="1" sz="1100">
                <a:solidFill>
                  <a:srgbClr val="3182CE"/>
                </a:solidFill>
              </a:defRPr>
            </a:pPr>
            <a:r>
              <a:t>10 Tables  |  87,000+ Rows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</a:defRPr>
            </a:pPr>
            <a:r>
              <a:t>Covers 40 real schemes, 32,000+ investor transactions, 320 portfolio holdings, and multi-year daily NAV timelines.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A365D"/>
                </a:solidFill>
              </a:defRPr>
            </a:pPr>
            <a:r>
              <a:t>Validation &amp; Quality</a:t>
            </a:r>
          </a:p>
          <a:p>
            <a:pPr>
              <a:spcBef>
                <a:spcPts val="400"/>
              </a:spcBef>
              <a:defRPr b="1" sz="1100">
                <a:solidFill>
                  <a:srgbClr val="3182CE"/>
                </a:solidFill>
              </a:defRPr>
            </a:pPr>
            <a:r>
              <a:t>100% Schema Validation</a:t>
            </a:r>
          </a:p>
          <a:p>
            <a:pPr>
              <a:spcBef>
                <a:spcPts val="600"/>
              </a:spcBef>
              <a:defRPr sz="1000">
                <a:solidFill>
                  <a:srgbClr val="2D3748"/>
                </a:solidFill>
              </a:defRPr>
            </a:pPr>
            <a:r>
              <a:t>Forward-fills weekend gaps, enforces strict positive NAV constraints, removes duplicates, and flags synthetic anomalies.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106984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A365D"/>
                </a:solidFill>
              </a:defRPr>
            </a:pPr>
            <a:r>
              <a:t>Dataset Catalog &amp; Mapping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182CE"/>
                </a:solidFill>
              </a:rPr>
              <a:t>• 01_fund_master.csv (40 Schemes): </a:t>
            </a:r>
            <a:r>
              <a:rPr sz="1000">
                <a:solidFill>
                  <a:srgbClr val="2D3748"/>
                </a:solidFill>
              </a:rPr>
              <a:t>amfi_code, fund_house, scheme_name, category, benchmark, expense_ratio, risk_grade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182CE"/>
                </a:solidFill>
              </a:rPr>
              <a:t>• 02_nav_history.csv (43,000+ Rows): </a:t>
            </a:r>
            <a:r>
              <a:rPr sz="1000">
                <a:solidFill>
                  <a:srgbClr val="2D3748"/>
                </a:solidFill>
              </a:rPr>
              <a:t>amfi_code, date, nav (Historical daily NAV series 2022–2026)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182CE"/>
                </a:solidFill>
              </a:rPr>
              <a:t>• 07_scheme_performance.csv (40 Schemes): </a:t>
            </a:r>
            <a:r>
              <a:rPr sz="1000">
                <a:solidFill>
                  <a:srgbClr val="2D3748"/>
                </a:solidFill>
              </a:rPr>
              <a:t>1Y/3Y/5Y CAGR, Alpha, Beta, Sharpe, Sortino, Max Drawdown, Volatility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182CE"/>
                </a:solidFill>
              </a:rPr>
              <a:t>• 08_investor_transactions.csv (32,778 Rows): </a:t>
            </a:r>
            <a:r>
              <a:rPr sz="1000">
                <a:solidFill>
                  <a:srgbClr val="2D3748"/>
                </a:solidFill>
              </a:rPr>
              <a:t>investor_id, date, amfi_code, type (SIP/Lumpsum/Redemption), amount, state, age, tier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182CE"/>
                </a:solidFill>
              </a:rPr>
              <a:t>• 09_portfolio_holdings.csv (320 Holdings): </a:t>
            </a:r>
            <a:r>
              <a:rPr sz="1000">
                <a:solidFill>
                  <a:srgbClr val="2D3748"/>
                </a:solidFill>
              </a:rPr>
              <a:t>amfi_code, stock_symbol, sector, weight_pct, market_value_cr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3182CE"/>
                </a:solidFill>
              </a:rPr>
              <a:t>• 10_benchmark_indices.csv (8,000+ Rows): </a:t>
            </a:r>
            <a:r>
              <a:rPr sz="1000">
                <a:solidFill>
                  <a:srgbClr val="2D3748"/>
                </a:solidFill>
              </a:rPr>
              <a:t>date, nifty_50, nifty_100, nifty_midcap_150, bse_smallcap, crisil_liquid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System Architecture &amp; Relational Star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37744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A365D"/>
                </a:solidFill>
              </a:defRPr>
            </a:pPr>
            <a:r>
              <a:t>1. Data Ingestion</a:t>
            </a:r>
          </a:p>
          <a:p>
            <a:pPr>
              <a:spcBef>
                <a:spcPts val="300"/>
              </a:spcBef>
              <a:defRPr b="1" sz="1000">
                <a:solidFill>
                  <a:srgbClr val="3182CE"/>
                </a:solidFill>
              </a:defRPr>
            </a:pPr>
            <a:r>
              <a:t>Fetch &amp; Load</a:t>
            </a:r>
          </a:p>
          <a:p>
            <a:pPr>
              <a:spcBef>
                <a:spcPts val="400"/>
              </a:spcBef>
              <a:defRPr sz="950">
                <a:solidFill>
                  <a:srgbClr val="2D3748"/>
                </a:solidFill>
              </a:defRPr>
            </a:pPr>
            <a:r>
              <a:t>Extract raw CSVs and query live NAV data from mfapi.in REST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463040"/>
            <a:ext cx="237744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A365D"/>
                </a:solidFill>
              </a:defRPr>
            </a:pPr>
            <a:r>
              <a:t>2. Data Cleaning</a:t>
            </a:r>
          </a:p>
          <a:p>
            <a:pPr>
              <a:spcBef>
                <a:spcPts val="300"/>
              </a:spcBef>
              <a:defRPr b="1" sz="1000">
                <a:solidFill>
                  <a:srgbClr val="3182CE"/>
                </a:solidFill>
              </a:defRPr>
            </a:pPr>
            <a:r>
              <a:t>Transform &amp; Clean</a:t>
            </a:r>
          </a:p>
          <a:p>
            <a:pPr>
              <a:spcBef>
                <a:spcPts val="400"/>
              </a:spcBef>
              <a:defRPr sz="950">
                <a:solidFill>
                  <a:srgbClr val="2D3748"/>
                </a:solidFill>
              </a:defRPr>
            </a:pPr>
            <a:r>
              <a:t>Forward-fill holidays, validate constraints, and structure processed CSVs.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237744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A365D"/>
                </a:solidFill>
              </a:defRPr>
            </a:pPr>
            <a:r>
              <a:t>3. SQLite Warehouse</a:t>
            </a:r>
          </a:p>
          <a:p>
            <a:pPr>
              <a:spcBef>
                <a:spcPts val="300"/>
              </a:spcBef>
              <a:defRPr b="1" sz="1000">
                <a:solidFill>
                  <a:srgbClr val="3182CE"/>
                </a:solidFill>
              </a:defRPr>
            </a:pPr>
            <a:r>
              <a:t>Star Schema DB</a:t>
            </a:r>
          </a:p>
          <a:p>
            <a:pPr>
              <a:spcBef>
                <a:spcPts val="400"/>
              </a:spcBef>
              <a:defRPr sz="950">
                <a:solidFill>
                  <a:srgbClr val="2D3748"/>
                </a:solidFill>
              </a:defRPr>
            </a:pPr>
            <a:r>
              <a:t>Load relational tables with primary/foreign keys on amfi_code and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63040"/>
            <a:ext cx="237744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60020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A365D"/>
                </a:solidFill>
              </a:defRPr>
            </a:pPr>
            <a:r>
              <a:t>4. Analytics &amp; BI</a:t>
            </a:r>
          </a:p>
          <a:p>
            <a:pPr>
              <a:spcBef>
                <a:spcPts val="300"/>
              </a:spcBef>
              <a:defRPr b="1" sz="1000">
                <a:solidFill>
                  <a:srgbClr val="3182CE"/>
                </a:solidFill>
              </a:defRPr>
            </a:pPr>
            <a:r>
              <a:t>Insights &amp; Visuals</a:t>
            </a:r>
          </a:p>
          <a:p>
            <a:pPr>
              <a:spcBef>
                <a:spcPts val="400"/>
              </a:spcBef>
              <a:defRPr sz="950">
                <a:solidFill>
                  <a:srgbClr val="2D3748"/>
                </a:solidFill>
              </a:defRPr>
            </a:pPr>
            <a:r>
              <a:t>Execute risk models, scorecard ranking, and interactive Power BI pages.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74420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0378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A365D"/>
                </a:solidFill>
              </a:defRPr>
            </a:pPr>
            <a:r>
              <a:t>Star Schema Relational Design (bluestock_mf.db)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3182CE"/>
                </a:solidFill>
              </a:rPr>
              <a:t>• Central Dimension 1 — dim_fund [amfi_code] (1-to-Many): </a:t>
            </a:r>
            <a:r>
              <a:rPr sz="1050">
                <a:solidFill>
                  <a:srgbClr val="2D3748"/>
                </a:solidFill>
              </a:rPr>
              <a:t>Filters fact_nav, fact_performance, fact_transactions, and portfolio_holdings.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3182CE"/>
                </a:solidFill>
              </a:rPr>
              <a:t>• Central Dimension 2 — dim_date [date] (1-to-Many): </a:t>
            </a:r>
            <a:r>
              <a:rPr sz="1050">
                <a:solidFill>
                  <a:srgbClr val="2D3748"/>
                </a:solidFill>
              </a:rPr>
              <a:t>Filters daily NAV records, benchmark indices, monthly SIP inflows, and investor transactions.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3182CE"/>
                </a:solidFill>
              </a:rPr>
              <a:t>• Fact Tables: </a:t>
            </a:r>
            <a:r>
              <a:rPr sz="1050">
                <a:solidFill>
                  <a:srgbClr val="2D3748"/>
                </a:solidFill>
              </a:rPr>
              <a:t>fact_nav (daily valuation series), fact_performance (risk &amp; return statistics), fact_transactions (32K investor records).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3182CE"/>
                </a:solidFill>
              </a:rPr>
              <a:t>• Performance Optimizations: </a:t>
            </a:r>
            <a:r>
              <a:rPr sz="1050">
                <a:solidFill>
                  <a:srgbClr val="2D3748"/>
                </a:solidFill>
              </a:rPr>
              <a:t>B-Tree indexed on amfi_code and date; ensures sub-10ms query latency across analytical SQL aggregations.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EDA Highlights (1): Industry AUM &amp; SIP Inflow Momentum</a:t>
            </a:r>
          </a:p>
        </p:txBody>
      </p:sp>
      <p:pic>
        <p:nvPicPr>
          <p:cNvPr id="4" name="Picture 3" descr="02_aum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2560320"/>
          </a:xfrm>
          <a:prstGeom prst="rect">
            <a:avLst/>
          </a:prstGeom>
        </p:spPr>
      </p:pic>
      <p:pic>
        <p:nvPicPr>
          <p:cNvPr id="5" name="Picture 4" descr="03_sip_infl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120640" cy="2560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937760"/>
            <a:ext cx="106984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A365D"/>
                </a:solidFill>
              </a:defRPr>
            </a:pPr>
            <a:r>
              <a:t>Key Macro Takeaways:</a:t>
            </a:r>
          </a:p>
          <a:p>
            <a:pPr>
              <a:spcBef>
                <a:spcPts val="300"/>
              </a:spcBef>
              <a:defRPr sz="1000">
                <a:solidFill>
                  <a:srgbClr val="2D3748"/>
                </a:solidFill>
              </a:defRPr>
            </a:pPr>
            <a:r>
              <a:t>✔ Industry AUM Expansion: Exploded from ₹38 Lakh Crore in early 2022 to over ₹81 Lakh Crore by Dec 2025 (~26% CAGR).</a:t>
            </a:r>
          </a:p>
          <a:p>
            <a:pPr>
              <a:spcBef>
                <a:spcPts val="300"/>
              </a:spcBef>
              <a:defRPr sz="1000">
                <a:solidFill>
                  <a:srgbClr val="2D3748"/>
                </a:solidFill>
              </a:defRPr>
            </a:pPr>
            <a:r>
              <a:t>✔ SIP Democratization: Monthly SIP contributions grew from ₹11,500 Cr to over ₹31,000 Cr, reflecting persistent retail dollar-cost averaging.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EDA Highlights (2): Demographics &amp; Investor Behavior</a:t>
            </a:r>
          </a:p>
        </p:txBody>
      </p:sp>
      <p:pic>
        <p:nvPicPr>
          <p:cNvPr id="4" name="Picture 3" descr="08_sip_by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3072384"/>
          </a:xfrm>
          <a:prstGeom prst="rect">
            <a:avLst/>
          </a:prstGeom>
        </p:spPr>
      </p:pic>
      <p:pic>
        <p:nvPicPr>
          <p:cNvPr id="5" name="Picture 4" descr="06_sip_box_by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120640" cy="3413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937760"/>
            <a:ext cx="106984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A365D"/>
                </a:solidFill>
              </a:defRPr>
            </a:pPr>
            <a:r>
              <a:t>Key Demographic Takeaways:</a:t>
            </a:r>
          </a:p>
          <a:p>
            <a:pPr>
              <a:spcBef>
                <a:spcPts val="300"/>
              </a:spcBef>
              <a:defRPr sz="1000">
                <a:solidFill>
                  <a:srgbClr val="2D3748"/>
                </a:solidFill>
              </a:defRPr>
            </a:pPr>
            <a:r>
              <a:t>✔ Geographic Concentration: Maharashtra, Gujarat, and Karnataka account for over 54% of total transaction capital.</a:t>
            </a:r>
          </a:p>
          <a:p>
            <a:pPr>
              <a:spcBef>
                <a:spcPts val="300"/>
              </a:spcBef>
              <a:defRPr sz="1000">
                <a:solidFill>
                  <a:srgbClr val="2D3748"/>
                </a:solidFill>
              </a:defRPr>
            </a:pPr>
            <a:r>
              <a:t>✔ Age Group Ticket Sizes: While 26–35 age group drives transaction count (fintech apps), 46–55 cohorts commit the highest median SIP amounts.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Performance Analytics (1): Benchmark Comparisons &amp; Scorecard</a:t>
            </a:r>
          </a:p>
        </p:txBody>
      </p:sp>
      <p:pic>
        <p:nvPicPr>
          <p:cNvPr id="4" name="Picture 3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307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7548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4592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Composite Fund Scorecard (0–100)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182CE"/>
                </a:solidFill>
              </a:rPr>
              <a:t>• Multi-Factor Formula: </a:t>
            </a:r>
            <a:r>
              <a:rPr sz="1000">
                <a:solidFill>
                  <a:srgbClr val="2D3748"/>
                </a:solidFill>
              </a:rPr>
              <a:t>30% 3Y Return + 25% Sharpe + 20% Alpha + 15% Low Expense + 10% Low Max DD.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182CE"/>
                </a:solidFill>
              </a:rPr>
              <a:t>• Rank 1 — Mirae Asset Large Cap: </a:t>
            </a:r>
            <a:r>
              <a:rPr sz="1000">
                <a:solidFill>
                  <a:srgbClr val="2D3748"/>
                </a:solidFill>
              </a:rPr>
              <a:t>Score 87.25 | Sharpe 1.06 | 3Y CAGR 14.81% | Steady large-cap compounder.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182CE"/>
                </a:solidFill>
              </a:rPr>
              <a:t>• Rank 2 — HDFC Mid-Cap Opportunities: </a:t>
            </a:r>
            <a:r>
              <a:rPr sz="1000">
                <a:solidFill>
                  <a:srgbClr val="2D3748"/>
                </a:solidFill>
              </a:rPr>
              <a:t>Score 84.10 | Alpha +27.11% | Strong manager outperformance vs Nifty 100.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182CE"/>
                </a:solidFill>
              </a:rPr>
              <a:t>• Rank 3 — Kotak Flexicap Fund: </a:t>
            </a:r>
            <a:r>
              <a:rPr sz="1000">
                <a:solidFill>
                  <a:srgbClr val="2D3748"/>
                </a:solidFill>
              </a:rPr>
              <a:t>Score 81.50 | Sharpe 1.02 | Dynamic multi-cap market allocation.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182CE"/>
                </a:solidFill>
              </a:rPr>
              <a:t>• Expense Sensitivity: </a:t>
            </a:r>
            <a:r>
              <a:rPr sz="1000">
                <a:solidFill>
                  <a:srgbClr val="2D3748"/>
                </a:solidFill>
              </a:rPr>
              <a:t>Direct plans generate 0.8% to 1.2% higher annualized return due to zero distributor commission drag.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Performance Analytics (2): Tail Risk, Rolling Sharpe &amp; Concentration</a:t>
            </a:r>
          </a:p>
        </p:txBody>
      </p:sp>
      <p:pic>
        <p:nvPicPr>
          <p:cNvPr id="4" name="Picture 3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2834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7548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4592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A365D"/>
                </a:solidFill>
              </a:defRPr>
            </a:pPr>
            <a:r>
              <a:t>Advanced Quantitative Takeaways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182CE"/>
                </a:solidFill>
              </a:rPr>
              <a:t>• Historical VaR &amp; CVaR (95%): </a:t>
            </a:r>
            <a:r>
              <a:rPr sz="1000">
                <a:solidFill>
                  <a:srgbClr val="2D3748"/>
                </a:solidFill>
              </a:rPr>
              <a:t>Small cap schemes exhibit 1-day VaR of -2.69% and CVaR of -3.24% (worst 5% days), contrasting with Liquid funds at -0.03%.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182CE"/>
                </a:solidFill>
              </a:rPr>
              <a:t>• Rolling Sharpe Instability: </a:t>
            </a:r>
            <a:r>
              <a:rPr sz="1000">
                <a:solidFill>
                  <a:srgbClr val="2D3748"/>
                </a:solidFill>
              </a:rPr>
              <a:t>HDFC Mid-Cap Sharpe oscillated between -0.80 and +3.20, showing that point-in-time metrics can misrepresent cyclical volatility.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182CE"/>
                </a:solidFill>
              </a:rPr>
              <a:t>• SIP Continuity &amp; Churn: </a:t>
            </a:r>
            <a:r>
              <a:rPr sz="1000">
                <a:solidFill>
                  <a:srgbClr val="2D3748"/>
                </a:solidFill>
              </a:rPr>
              <a:t>97.8% of investors with 6+ SIPs have average gaps &gt; 35 days (cohort mean 64.9 days), revealing widespread mandate pauses.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182CE"/>
                </a:solidFill>
              </a:rPr>
              <a:t>• Sector HHI Concentration: </a:t>
            </a:r>
            <a:r>
              <a:rPr sz="1000">
                <a:solidFill>
                  <a:srgbClr val="2D3748"/>
                </a:solidFill>
              </a:rPr>
              <a:t>Axis Bluechip has HHI of 2,967 (48.7% IT). Funds with HHI &gt; 2,500 carry acute single-sector vulnerability.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Power BI Dashboard Showcase (Pages 1 &amp; 2)</a:t>
            </a:r>
          </a:p>
        </p:txBody>
      </p:sp>
      <p:pic>
        <p:nvPicPr>
          <p:cNvPr id="4" name="Picture 3" descr="page1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285803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937760"/>
            <a:ext cx="51206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A365D"/>
                </a:solidFill>
              </a:defRPr>
            </a:pPr>
            <a:r>
              <a:t>Page 1: Industry Overview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Displays executive KPI cards (₹81L Cr AUM, ₹31K Cr SIP, 26.12 Cr Folios), multi-year AUM growth timeline, and AMC market share distribution.</a:t>
            </a:r>
          </a:p>
        </p:txBody>
      </p:sp>
      <p:pic>
        <p:nvPicPr>
          <p:cNvPr id="7" name="Picture 6" descr="page2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120640" cy="28580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4937760"/>
            <a:ext cx="51206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0292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A365D"/>
                </a:solidFill>
              </a:defRPr>
            </a:pPr>
            <a:r>
              <a:t>Page 2: Fund Performance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Features a Risk vs. Return scatter plot (CAGR vs Volatility), interactive scorecard table, benchmark NAV line chart, and AMC/category slicers.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Power BI Dashboard Showcase (Pages 3 &amp; 4)</a:t>
            </a:r>
          </a:p>
        </p:txBody>
      </p:sp>
      <p:pic>
        <p:nvPicPr>
          <p:cNvPr id="4" name="Picture 3" descr="page3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285803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937760"/>
            <a:ext cx="51206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A365D"/>
                </a:solidFill>
              </a:defRPr>
            </a:pPr>
            <a:r>
              <a:t>Page 3: Investor Analytics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State-wise capital allocation, SIP vs. Lumpsum vs. Redemption donut breakdown, age-group ticket size distribution, and monthly transaction volumes.</a:t>
            </a:r>
          </a:p>
        </p:txBody>
      </p:sp>
      <p:pic>
        <p:nvPicPr>
          <p:cNvPr id="7" name="Picture 6" descr="page4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120640" cy="28580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4937760"/>
            <a:ext cx="512064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0292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A365D"/>
                </a:solidFill>
              </a:defRPr>
            </a:pPr>
            <a:r>
              <a:t>Page 4: SIP &amp; Market Trends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Dual-axis chart correlating monthly SIP inflows with Nifty 50 closing level, category net flow heatmap, and top 5 inflow leader rankings.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Calibri"/>
              </a:defRPr>
            </a:pPr>
            <a:r>
              <a:t>BLUESTOCK FINTECH  |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Calibri"/>
              </a:defRPr>
            </a:pPr>
            <a:r>
              <a:t>Strategic Recommendations for Bluestock Fintech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A365D"/>
                </a:solidFill>
              </a:defRPr>
            </a:pPr>
            <a:r>
              <a:t>1. Automated SIP Pre-Debit Retention Nudges</a:t>
            </a:r>
          </a:p>
          <a:p>
            <a:pPr>
              <a:spcBef>
                <a:spcPts val="300"/>
              </a:spcBef>
              <a:defRPr sz="1050">
                <a:solidFill>
                  <a:srgbClr val="2D3748"/>
                </a:solidFill>
              </a:defRPr>
            </a:pPr>
            <a:r>
              <a:t>With 97.8% of regular SIP investors exhibiting cadence gaps &gt; 35 days (mean 64.9 days), implement WhatsApp/SMS balance reminders 48h prior to debit dates to prevent mandate churn and bank drop-offs.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06984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A365D"/>
                </a:solidFill>
              </a:defRPr>
            </a:pPr>
            <a:r>
              <a:t>2. Multi-Metric Fund Scorecard Integration</a:t>
            </a:r>
          </a:p>
          <a:p>
            <a:pPr>
              <a:spcBef>
                <a:spcPts val="300"/>
              </a:spcBef>
              <a:defRPr sz="1050">
                <a:solidFill>
                  <a:srgbClr val="2D3748"/>
                </a:solidFill>
              </a:defRPr>
            </a:pPr>
            <a:r>
              <a:t>Replace simple 1-year trailing return leaderboards in the retail app with our composite Scorecard (Return + Sharpe + Alpha + Expense + Drawdown) to prevent retail capital chasing past peak cyclical returns.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A365D"/>
                </a:solidFill>
              </a:defRPr>
            </a:pPr>
            <a:r>
              <a:t>3. Tail-Risk (VaR) Warnings for Small Cap Funds</a:t>
            </a:r>
          </a:p>
          <a:p>
            <a:pPr>
              <a:spcBef>
                <a:spcPts val="300"/>
              </a:spcBef>
              <a:defRPr sz="1050">
                <a:solidFill>
                  <a:srgbClr val="2D3748"/>
                </a:solidFill>
              </a:defRPr>
            </a:pPr>
            <a:r>
              <a:t>Small-cap schemes carry daily VaR of -2.69% and CVaR exceeding -3.24%. Embed automated risk disclosure popups to set realistic expectations for first-time retail investors.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6984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A365D"/>
                </a:solidFill>
              </a:defRPr>
            </a:pPr>
            <a:r>
              <a:t>4. Sector Concentration Guardrails (HHI &gt; 2500)</a:t>
            </a:r>
          </a:p>
          <a:p>
            <a:pPr>
              <a:spcBef>
                <a:spcPts val="300"/>
              </a:spcBef>
              <a:defRPr sz="1050">
                <a:solidFill>
                  <a:srgbClr val="2D3748"/>
                </a:solidFill>
              </a:defRPr>
            </a:pPr>
            <a:r>
              <a:t>Flag mutual funds exhibiting high sector concentration (e.g. Axis Bluechip at 48.7% IT). Offer automated portfolio rebalancing suggestions to safeguard retail portfolios from idiosyncratic industry shocks.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2000">
                <a:solidFill>
                  <a:srgbClr val="90CDF4"/>
                </a:solidFill>
              </a:defRPr>
            </a:pPr>
            <a:r>
              <a:t>Bluestock Mutual Fund Analytics Capstone Project Complete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114800"/>
            <a:ext cx="9418320" cy="1645920"/>
          </a:xfrm>
          <a:prstGeom prst="roundRect">
            <a:avLst/>
          </a:prstGeom>
          <a:solidFill>
            <a:srgbClr val="1E406E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4297680"/>
            <a:ext cx="8869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All Deliverables Successfully Implemented &amp; Verified: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10 Cleaned Datasets  • SQLite Database (Star Schema)  • EDA &amp; Performance Notebooks</a:t>
            </a:r>
            <a:br/>
            <a:r>
              <a:t>• 4-Page Power BI Dashboard  • 15–20 Page Final Report PDF  • Quantitative Risk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