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90CDF4"/>
                </a:solidFill>
              </a:defRPr>
            </a:pPr>
            <a:r>
              <a:t>BLUESTOCK FINTECH  •  DATA ANALYST INTERNSHIP CAPSTONE</a:t>
            </a:r>
          </a:p>
          <a:p>
            <a:pPr>
              <a:defRPr b="1" sz="4000">
                <a:solidFill>
                  <a:srgbClr val="FFFFFF"/>
                </a:solidFill>
              </a:defRPr>
            </a:pPr>
            <a:r>
              <a:t>Mutual Fund Analytics Platform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End-to-End Data Engineering, Quantitative Risk Modeling, and Interactive BI Dashboard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82CE"/>
                </a:solidFill>
                <a:latin typeface="Calibri"/>
              </a:defRPr>
            </a:pPr>
            <a:r>
              <a:t>BLUESTOCK FINTECH  | 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Calibri"/>
              </a:defRPr>
            </a:pPr>
            <a:r>
              <a:t>Problem Statement &amp; Strategic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A365D"/>
                </a:solidFill>
              </a:defRPr>
            </a:pPr>
            <a:r>
              <a:t>The Retail Investment Dilemma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3182CE"/>
                </a:solidFill>
              </a:rPr>
              <a:t>• Data Fragmentation: </a:t>
            </a:r>
            <a:r>
              <a:rPr>
                <a:solidFill>
                  <a:srgbClr val="2D3748"/>
                </a:solidFill>
              </a:rPr>
              <a:t>Scattered datasets across AMFI, exchanges, and SEBI portals.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3182CE"/>
                </a:solidFill>
              </a:rPr>
              <a:t>• Recency Bias: </a:t>
            </a:r>
            <a:r>
              <a:rPr>
                <a:solidFill>
                  <a:srgbClr val="2D3748"/>
                </a:solidFill>
              </a:rPr>
              <a:t>Chasing trailing returns without factoring downside tail volatility.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3182CE"/>
                </a:solidFill>
              </a:rPr>
              <a:t>• SIP Friction: </a:t>
            </a:r>
            <a:r>
              <a:rPr>
                <a:solidFill>
                  <a:srgbClr val="2D3748"/>
                </a:solidFill>
              </a:rPr>
              <a:t>Mandate drop-offs and irregular cadence hampering compounding.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A365D"/>
                </a:solidFill>
              </a:defRPr>
            </a:pPr>
            <a:r>
              <a:t>Capstone Solution Pillars</a:t>
            </a:r>
          </a:p>
          <a:p>
            <a:pPr>
              <a:spcBef>
                <a:spcPts val="1000"/>
              </a:spcBef>
            </a:pPr>
            <a:r>
              <a:rPr b="1">
                <a:solidFill>
                  <a:srgbClr val="38A169"/>
                </a:solidFill>
              </a:rPr>
              <a:t>[OK] Automated ETL Pipeline: </a:t>
            </a:r>
            <a:r>
              <a:rPr>
                <a:solidFill>
                  <a:srgbClr val="2D3748"/>
                </a:solidFill>
              </a:rPr>
              <a:t>Ingest, clean, and validate 10 relational tables.</a:t>
            </a:r>
          </a:p>
          <a:p>
            <a:pPr>
              <a:spcBef>
                <a:spcPts val="1000"/>
              </a:spcBef>
            </a:pPr>
            <a:r>
              <a:rPr b="1">
                <a:solidFill>
                  <a:srgbClr val="38A169"/>
                </a:solidFill>
              </a:rPr>
              <a:t>[OK] Relational Star Schema: </a:t>
            </a:r>
            <a:r>
              <a:rPr>
                <a:solidFill>
                  <a:srgbClr val="2D3748"/>
                </a:solidFill>
              </a:rPr>
              <a:t>SQLite warehouse optimized for fast BI queries.</a:t>
            </a:r>
          </a:p>
          <a:p>
            <a:pPr>
              <a:spcBef>
                <a:spcPts val="1000"/>
              </a:spcBef>
            </a:pPr>
            <a:r>
              <a:rPr b="1">
                <a:solidFill>
                  <a:srgbClr val="38A169"/>
                </a:solidFill>
              </a:rPr>
              <a:t>[OK] Quantitative Risk Modeling: </a:t>
            </a:r>
            <a:r>
              <a:rPr>
                <a:solidFill>
                  <a:srgbClr val="2D3748"/>
                </a:solidFill>
              </a:rPr>
              <a:t>VaR 95%, CVaR, Rolling Sharpe, and Sector HHI.</a:t>
            </a:r>
          </a:p>
          <a:p>
            <a:pPr>
              <a:spcBef>
                <a:spcPts val="1000"/>
              </a:spcBef>
            </a:pPr>
            <a:r>
              <a:rPr b="1">
                <a:solidFill>
                  <a:srgbClr val="38A169"/>
                </a:solidFill>
              </a:rPr>
              <a:t>[OK] Interactive BI Dashboard: </a:t>
            </a:r>
            <a:r>
              <a:rPr>
                <a:solidFill>
                  <a:srgbClr val="2D3748"/>
                </a:solidFill>
              </a:rPr>
              <a:t>4-page layout with slicers and KPI tracking.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82CE"/>
                </a:solidFill>
                <a:latin typeface="Calibri"/>
              </a:defRPr>
            </a:pPr>
            <a:r>
              <a:t>BLUESTOCK FINTECH  | 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Calibri"/>
              </a:defRPr>
            </a:pPr>
            <a:r>
              <a:t>Data Sources &amp; Ingestion Ecosystem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A365D"/>
                </a:solidFill>
              </a:defRPr>
            </a:pPr>
            <a:r>
              <a:t>10 Public Datasets Analyzed (87,000+ Records)</a:t>
            </a:r>
          </a:p>
          <a:p>
            <a:pPr>
              <a:spcBef>
                <a:spcPts val="800"/>
              </a:spcBef>
              <a:defRPr sz="1100">
                <a:solidFill>
                  <a:srgbClr val="2D3748"/>
                </a:solidFill>
              </a:defRPr>
            </a:pPr>
            <a:r>
              <a:t>• 01_fund_master.csv (40 Schemes, Expense ratios, Benchmarks, SEBI risk tiers)</a:t>
            </a:r>
          </a:p>
          <a:p>
            <a:pPr>
              <a:spcBef>
                <a:spcPts val="800"/>
              </a:spcBef>
              <a:defRPr sz="1100">
                <a:solidFill>
                  <a:srgbClr val="2D3748"/>
                </a:solidFill>
              </a:defRPr>
            </a:pPr>
            <a:r>
              <a:t>• 02_nav_history.csv (43,000+ daily NAV records spanning 2022–2026)</a:t>
            </a:r>
          </a:p>
          <a:p>
            <a:pPr>
              <a:spcBef>
                <a:spcPts val="800"/>
              </a:spcBef>
              <a:defRPr sz="1100">
                <a:solidFill>
                  <a:srgbClr val="2D3748"/>
                </a:solidFill>
              </a:defRPr>
            </a:pPr>
            <a:r>
              <a:t>• 07_scheme_performance.csv (1Y/3Y/5Y CAGR, Sharpe, Sortino, Alpha, Beta, Max DD)</a:t>
            </a:r>
          </a:p>
          <a:p>
            <a:pPr>
              <a:spcBef>
                <a:spcPts val="800"/>
              </a:spcBef>
              <a:defRPr sz="1100">
                <a:solidFill>
                  <a:srgbClr val="2D3748"/>
                </a:solidFill>
              </a:defRPr>
            </a:pPr>
            <a:r>
              <a:t>• 08_investor_transactions.csv (32,778 SIP and Lumpsum transaction records)</a:t>
            </a:r>
          </a:p>
          <a:p>
            <a:pPr>
              <a:spcBef>
                <a:spcPts val="800"/>
              </a:spcBef>
              <a:defRPr sz="1100">
                <a:solidFill>
                  <a:srgbClr val="2D3748"/>
                </a:solidFill>
              </a:defRPr>
            </a:pPr>
            <a:r>
              <a:t>• 09_portfolio_holdings.csv (320 equity holdings across sectors)</a:t>
            </a:r>
          </a:p>
          <a:p>
            <a:pPr>
              <a:spcBef>
                <a:spcPts val="800"/>
              </a:spcBef>
              <a:defRPr sz="1100">
                <a:solidFill>
                  <a:srgbClr val="2D3748"/>
                </a:solidFill>
              </a:defRPr>
            </a:pPr>
            <a:r>
              <a:t>• 10_benchmark_indices.csv (8,000+ daily benchmark closing levels: NIFTY 50, NIFTY 100)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82CE"/>
                </a:solidFill>
                <a:latin typeface="Calibri"/>
              </a:defRPr>
            </a:pPr>
            <a:r>
              <a:t>BLUESTOCK FINTECH  | 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Calibri"/>
              </a:defRPr>
            </a:pPr>
            <a:r>
              <a:t>System Architecture &amp; Relational Star Schema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A365D"/>
                </a:solidFill>
              </a:defRPr>
            </a:pPr>
            <a:r>
              <a:t>Star Schema Architecture (bluestock_mf.db)</a:t>
            </a:r>
          </a:p>
          <a:p>
            <a:pPr>
              <a:spcBef>
                <a:spcPts val="800"/>
              </a:spcBef>
              <a:defRPr sz="1100">
                <a:solidFill>
                  <a:srgbClr val="2D3748"/>
                </a:solidFill>
              </a:defRPr>
            </a:pPr>
            <a:r>
              <a:t>• dim_fund [amfi_code] (1-to-many) filters fact_nav, fact_performance, fact_transactions</a:t>
            </a:r>
          </a:p>
          <a:p>
            <a:pPr>
              <a:spcBef>
                <a:spcPts val="800"/>
              </a:spcBef>
              <a:defRPr sz="1100">
                <a:solidFill>
                  <a:srgbClr val="2D3748"/>
                </a:solidFill>
              </a:defRPr>
            </a:pPr>
            <a:r>
              <a:t>• dim_date [date] (1-to-many) filters fact_nav, fact_transactions, benchmark_indices</a:t>
            </a:r>
          </a:p>
          <a:p>
            <a:pPr>
              <a:spcBef>
                <a:spcPts val="800"/>
              </a:spcBef>
              <a:defRPr sz="1100">
                <a:solidFill>
                  <a:srgbClr val="2D3748"/>
                </a:solidFill>
              </a:defRPr>
            </a:pPr>
            <a:r>
              <a:t>• Compound B-Tree indexing on (amfi_code, date) yields sub-15ms join latency</a:t>
            </a:r>
          </a:p>
          <a:p>
            <a:pPr>
              <a:spcBef>
                <a:spcPts val="800"/>
              </a:spcBef>
              <a:defRPr sz="1100">
                <a:solidFill>
                  <a:srgbClr val="2D3748"/>
                </a:solidFill>
              </a:defRPr>
            </a:pPr>
            <a:r>
              <a:t>• Zero duplicate primary keys, forward-filled weekend gaps, strict referential integrity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82CE"/>
                </a:solidFill>
                <a:latin typeface="Calibri"/>
              </a:defRPr>
            </a:pPr>
            <a:r>
              <a:t>BLUESTOCK FINTECH  | 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Calibri"/>
              </a:defRPr>
            </a:pPr>
            <a:r>
              <a:t>EDA Highlights (1): Industry AUM &amp; SIP Inflow Momentum</a:t>
            </a:r>
          </a:p>
        </p:txBody>
      </p:sp>
      <p:pic>
        <p:nvPicPr>
          <p:cNvPr id="4" name="Picture 3" descr="02_aum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120640" cy="2560320"/>
          </a:xfrm>
          <a:prstGeom prst="rect">
            <a:avLst/>
          </a:prstGeom>
        </p:spPr>
      </p:pic>
      <p:pic>
        <p:nvPicPr>
          <p:cNvPr id="5" name="Picture 4" descr="03_sip_inflow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63040"/>
            <a:ext cx="5120640" cy="232756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937760"/>
            <a:ext cx="1069848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748"/>
                </a:solidFill>
              </a:defRPr>
            </a:pPr>
            <a:r>
              <a:t>Key Takeaways: Industry AUM expanded from ₹38.2L Cr to ₹81.4L Cr (+26.3% CAGR). Monthly SIP inflows surged past ₹31,000 Cr.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82CE"/>
                </a:solidFill>
                <a:latin typeface="Calibri"/>
              </a:defRPr>
            </a:pPr>
            <a:r>
              <a:t>BLUESTOCK FINTECH  | 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Calibri"/>
              </a:defRPr>
            </a:pPr>
            <a:r>
              <a:t>EDA Highlights (2): Demographics &amp; Investor Behavior</a:t>
            </a:r>
          </a:p>
        </p:txBody>
      </p:sp>
      <p:pic>
        <p:nvPicPr>
          <p:cNvPr id="4" name="Picture 3" descr="08_sip_by_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120640" cy="2560320"/>
          </a:xfrm>
          <a:prstGeom prst="rect">
            <a:avLst/>
          </a:prstGeom>
        </p:spPr>
      </p:pic>
      <p:pic>
        <p:nvPicPr>
          <p:cNvPr id="5" name="Picture 4" descr="06_sip_box_by_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63040"/>
            <a:ext cx="5120640" cy="2844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937760"/>
            <a:ext cx="1069848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748"/>
                </a:solidFill>
              </a:defRPr>
            </a:pPr>
            <a:r>
              <a:t>Key Takeaways: Maharashtra, Gujarat, and Karnataka drive 54% of capital. 26-35 age group leads count; 46-55 leads ticket size (₹14,200).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82CE"/>
                </a:solidFill>
                <a:latin typeface="Calibri"/>
              </a:defRPr>
            </a:pPr>
            <a:r>
              <a:t>BLUESTOCK FINTECH  | 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Calibri"/>
              </a:defRPr>
            </a:pPr>
            <a:r>
              <a:t>Performance Analytics (1): Benchmark Comparisons &amp; Scorecard</a:t>
            </a:r>
          </a:p>
        </p:txBody>
      </p:sp>
      <p:pic>
        <p:nvPicPr>
          <p:cNvPr id="4" name="Picture 3" descr="benchmark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669280" cy="33070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1463040"/>
            <a:ext cx="47548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645920"/>
            <a:ext cx="4389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A365D"/>
                </a:solidFill>
              </a:defRPr>
            </a:pPr>
            <a:r>
              <a:t>Composite Fund Scorecard (0–100)</a:t>
            </a:r>
          </a:p>
          <a:p>
            <a:pPr>
              <a:spcBef>
                <a:spcPts val="800"/>
              </a:spcBef>
              <a:defRPr sz="1050">
                <a:solidFill>
                  <a:srgbClr val="2D3748"/>
                </a:solidFill>
              </a:defRPr>
            </a:pPr>
            <a:r>
              <a:t>• Mirae Asset Large Cap Fund ranked #1 (Score 87.25, 3Y CAGR 14.81%, Sharpe 1.06)</a:t>
            </a:r>
          </a:p>
          <a:p>
            <a:pPr>
              <a:spcBef>
                <a:spcPts val="800"/>
              </a:spcBef>
              <a:defRPr sz="1050">
                <a:solidFill>
                  <a:srgbClr val="2D3748"/>
                </a:solidFill>
              </a:defRPr>
            </a:pPr>
            <a:r>
              <a:t>• HDFC Mid-Cap Opportunities generated highest manager alpha (+27.11% vs Nifty 100)</a:t>
            </a:r>
          </a:p>
          <a:p>
            <a:pPr>
              <a:spcBef>
                <a:spcPts val="800"/>
              </a:spcBef>
              <a:defRPr sz="1050">
                <a:solidFill>
                  <a:srgbClr val="2D3748"/>
                </a:solidFill>
              </a:defRPr>
            </a:pPr>
            <a:r>
              <a:t>• Kotak Flexicap ranked #3 (Score 81.50) with balanced multi-cap allocation</a:t>
            </a:r>
          </a:p>
          <a:p>
            <a:pPr>
              <a:spcBef>
                <a:spcPts val="800"/>
              </a:spcBef>
              <a:defRPr sz="1050">
                <a:solidFill>
                  <a:srgbClr val="2D3748"/>
                </a:solidFill>
              </a:defRPr>
            </a:pPr>
            <a:r>
              <a:t>• Direct plans deliver 0.75% to 1.15% annualized excess compounding vs Regular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82CE"/>
                </a:solidFill>
                <a:latin typeface="Calibri"/>
              </a:defRPr>
            </a:pPr>
            <a:r>
              <a:t>BLUESTOCK FINTECH  | 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Calibri"/>
              </a:defRPr>
            </a:pPr>
            <a:r>
              <a:t>Performance Analytics (2): Tail Risk, Rolling Sharpe &amp; Concentration</a:t>
            </a:r>
          </a:p>
        </p:txBody>
      </p:sp>
      <p:pic>
        <p:nvPicPr>
          <p:cNvPr id="4" name="Picture 3" descr="rolling_sharp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669280" cy="25984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1463040"/>
            <a:ext cx="47548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645920"/>
            <a:ext cx="4389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A365D"/>
                </a:solidFill>
              </a:defRPr>
            </a:pPr>
            <a:r>
              <a:t>Advanced Risk Insights</a:t>
            </a:r>
          </a:p>
          <a:p>
            <a:pPr>
              <a:spcBef>
                <a:spcPts val="600"/>
              </a:spcBef>
              <a:defRPr sz="1000">
                <a:solidFill>
                  <a:srgbClr val="2D3748"/>
                </a:solidFill>
              </a:defRPr>
            </a:pPr>
            <a:r>
              <a:t>• Small Cap schemes exhibit 1-day 95% VaR of -2.69% and CVaR of -3.24% (tail loss)</a:t>
            </a:r>
          </a:p>
          <a:p>
            <a:pPr>
              <a:spcBef>
                <a:spcPts val="600"/>
              </a:spcBef>
              <a:defRPr sz="1000">
                <a:solidFill>
                  <a:srgbClr val="2D3748"/>
                </a:solidFill>
              </a:defRPr>
            </a:pPr>
            <a:r>
              <a:t>• Liquid schemes preserve capital with daily VaR of only -0.03%</a:t>
            </a:r>
          </a:p>
          <a:p>
            <a:pPr>
              <a:spcBef>
                <a:spcPts val="600"/>
              </a:spcBef>
              <a:defRPr sz="1000">
                <a:solidFill>
                  <a:srgbClr val="2D3748"/>
                </a:solidFill>
              </a:defRPr>
            </a:pPr>
            <a:r>
              <a:t>• Rolling Sharpe of HDFC Mid-Cap swung from -0.80 to +3.20 across cycles</a:t>
            </a:r>
          </a:p>
          <a:p>
            <a:pPr>
              <a:spcBef>
                <a:spcPts val="600"/>
              </a:spcBef>
              <a:defRPr sz="1000">
                <a:solidFill>
                  <a:srgbClr val="2D3748"/>
                </a:solidFill>
              </a:defRPr>
            </a:pPr>
            <a:r>
              <a:t>• 97.8% of regular SIP investors show cadence gaps &gt; 35 days (mean 64.9 days)</a:t>
            </a:r>
          </a:p>
          <a:p>
            <a:pPr>
              <a:spcBef>
                <a:spcPts val="600"/>
              </a:spcBef>
              <a:defRPr sz="1000">
                <a:solidFill>
                  <a:srgbClr val="2D3748"/>
                </a:solidFill>
              </a:defRPr>
            </a:pPr>
            <a:r>
              <a:t>• Axis Bluechip shows elevated HHI of 2,967 (48.7% IT concentration)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82CE"/>
                </a:solidFill>
                <a:latin typeface="Calibri"/>
              </a:defRPr>
            </a:pPr>
            <a:r>
              <a:t>BLUESTOCK FINTECH  | 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Calibri"/>
              </a:defRPr>
            </a:pPr>
            <a:r>
              <a:t>Power BI Dashboard Showcase (Pages 1 &amp; 2)</a:t>
            </a:r>
          </a:p>
        </p:txBody>
      </p:sp>
      <p:pic>
        <p:nvPicPr>
          <p:cNvPr id="4" name="Picture 3" descr="page1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120640" cy="2858032"/>
          </a:xfrm>
          <a:prstGeom prst="rect">
            <a:avLst/>
          </a:prstGeom>
        </p:spPr>
      </p:pic>
      <p:pic>
        <p:nvPicPr>
          <p:cNvPr id="5" name="Picture 4" descr="page2_m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63040"/>
            <a:ext cx="5120640" cy="28580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937760"/>
            <a:ext cx="512064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0292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Page 1: Industry Overview (AUM ₹81L Cr, SIP ₹31K Cr, AMC share)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4937760"/>
            <a:ext cx="512064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50292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Page 2: Fund Performance (Return vs Risk scatter, Scorecard table, slicers)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82CE"/>
                </a:solidFill>
                <a:latin typeface="Calibri"/>
              </a:defRPr>
            </a:pPr>
            <a:r>
              <a:t>BLUESTOCK FINTECH  | 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Calibri"/>
              </a:defRPr>
            </a:pPr>
            <a:r>
              <a:t>Power BI Dashboard Showcase (Pages 3 &amp; 4)</a:t>
            </a:r>
          </a:p>
        </p:txBody>
      </p:sp>
      <p:pic>
        <p:nvPicPr>
          <p:cNvPr id="4" name="Picture 3" descr="page3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120640" cy="2858032"/>
          </a:xfrm>
          <a:prstGeom prst="rect">
            <a:avLst/>
          </a:prstGeom>
        </p:spPr>
      </p:pic>
      <p:pic>
        <p:nvPicPr>
          <p:cNvPr id="5" name="Picture 4" descr="page4_m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63040"/>
            <a:ext cx="5120640" cy="28580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937760"/>
            <a:ext cx="512064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0292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Page 3: Investor Analytics (State flows, SIP vs Lumpsum donut, Age split)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4937760"/>
            <a:ext cx="512064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50292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Page 4: SIP &amp; Market Trends (Dual axis SIP vs Nifty 50, Net category heatmap)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82CE"/>
                </a:solidFill>
                <a:latin typeface="Calibri"/>
              </a:defRPr>
            </a:pPr>
            <a:r>
              <a:t>BLUESTOCK FINTECH  | 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Calibri"/>
              </a:defRPr>
            </a:pPr>
            <a:r>
              <a:t>Strategic Recommendations for Bluestock Fintech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A365D"/>
                </a:solidFill>
              </a:defRPr>
            </a:pPr>
            <a:r>
              <a:t>5 Strategic Action Items for Executive Leadership</a:t>
            </a:r>
          </a:p>
          <a:p>
            <a:pPr>
              <a:spcBef>
                <a:spcPts val="800"/>
              </a:spcBef>
              <a:defRPr sz="1050">
                <a:solidFill>
                  <a:srgbClr val="2D3748"/>
                </a:solidFill>
              </a:defRPr>
            </a:pPr>
            <a:r>
              <a:t>• 1. Automated SIP Pre-Debit Reminders: Prevent mandate churn (97.8% at-risk cadence gaps) via WhatsApp/SMS alerts 48h prior.</a:t>
            </a:r>
          </a:p>
          <a:p>
            <a:pPr>
              <a:spcBef>
                <a:spcPts val="800"/>
              </a:spcBef>
              <a:defRPr sz="1050">
                <a:solidFill>
                  <a:srgbClr val="2D3748"/>
                </a:solidFill>
              </a:defRPr>
            </a:pPr>
            <a:r>
              <a:t>• 2. Multi-Factor Scorecard in Client App: Replace simple 1-year leaderboards with our composite 0–100 Scorecard to curb cyclical chasing.</a:t>
            </a:r>
          </a:p>
          <a:p>
            <a:pPr>
              <a:spcBef>
                <a:spcPts val="800"/>
              </a:spcBef>
              <a:defRPr sz="1050">
                <a:solidFill>
                  <a:srgbClr val="2D3748"/>
                </a:solidFill>
              </a:defRPr>
            </a:pPr>
            <a:r>
              <a:t>• 3. Small-Cap Tail-Risk (VaR) Disclosures: Display annualized downside risk gauges before retail investors allocate to high-beta schemes.</a:t>
            </a:r>
          </a:p>
          <a:p>
            <a:pPr>
              <a:spcBef>
                <a:spcPts val="800"/>
              </a:spcBef>
              <a:defRPr sz="1050">
                <a:solidFill>
                  <a:srgbClr val="2D3748"/>
                </a:solidFill>
              </a:defRPr>
            </a:pPr>
            <a:r>
              <a:t>• 4. Automated Sector Concentration Alerts: Warn users when portfolios have HHI &gt; 2500 (e.g. 48.7% IT) and provide diversification swaps.</a:t>
            </a:r>
          </a:p>
          <a:p>
            <a:pPr>
              <a:spcBef>
                <a:spcPts val="800"/>
              </a:spcBef>
              <a:defRPr sz="1050">
                <a:solidFill>
                  <a:srgbClr val="2D3748"/>
                </a:solidFill>
              </a:defRPr>
            </a:pPr>
            <a:r>
              <a:t>• 5. Capitalize on Cohort 2025 Purchasing Power: Target young professionals with higher initial ticket sizes (+22.8%) via curated baskets.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FFFF"/>
                </a:solidFill>
              </a:defRPr>
            </a:pPr>
            <a:r>
              <a:t>Thank You!</a:t>
            </a:r>
          </a:p>
          <a:p>
            <a:pPr>
              <a:spcBef>
                <a:spcPts val="800"/>
              </a:spcBef>
              <a:defRPr sz="2000">
                <a:solidFill>
                  <a:srgbClr val="90CDF4"/>
                </a:solidFill>
              </a:defRPr>
            </a:pPr>
            <a:r>
              <a:t>Bluestock Mutual Fund Analytics Capstone Project Complete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